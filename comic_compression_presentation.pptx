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102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686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Lossy Compression of Comic Strips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</a:t>
            </a:r>
            <a:r>
              <a:rPr lang="en-US" altLang="zh-CN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Xuran ZHOU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Supervisor: Prof. Szymon Grabowski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methods are not suitable for comic strips: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ringing artifacts around hard edges and text — very visible in comics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but poor compression ratio for comic images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methods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designed for comic-specific features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Comic strips have distinct </a:t>
            </a:r>
            <a:r>
              <a:rPr lang="en-US" altLang="zh-CN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flat-color regions, contour lines, speech bubble text, color gradients, low number of distinct colors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comic image into three region types, each compressed separately: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22266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One-Color Regions  </a:t>
            </a: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[Today's focus]</a:t>
            </a:r>
            <a:endParaRPr lang="en-US" sz="1400" dirty="0"/>
          </a:p>
          <a:p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4C(C</a:t>
            </a:r>
            <a:r>
              <a:rPr lang="en-US" altLang="zh-CN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hain Code Cartoon Compression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framework </a:t>
            </a:r>
            <a:r>
              <a:rPr lang="en-US" sz="1400" dirty="0"/>
              <a:t>[1]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automatic parameter selection (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ctol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-color tolerance,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msz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-minimum size,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ptol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-palette tolerance) based on image features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Tonal Transition Regions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CGV(C</a:t>
            </a:r>
            <a:r>
              <a:rPr lang="en-US" altLang="zh-CN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olor Gradient Vectorization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method [2][3]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integrate gradient-color regions handling into 4C framework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Text Regions (Speech Bubbles)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SickZil-Machine[4]</a:t>
            </a:r>
          </a:p>
          <a:p>
            <a:r>
              <a:rPr lang="en-US" sz="1400" dirty="0"/>
              <a:t>Compression: MRC-inspired approach[5]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MRC-inspired compression to avoid ringing artifacts on text edges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0567B3-B0C2-2692-7E35-78E874D46771}"/>
              </a:ext>
            </a:extLst>
          </p:cNvPr>
          <p:cNvSpPr txBox="1"/>
          <p:nvPr/>
        </p:nvSpPr>
        <p:spPr>
          <a:xfrm>
            <a:off x="457200" y="4008906"/>
            <a:ext cx="858356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[1] </a:t>
            </a:r>
            <a:r>
              <a:rPr lang="en-US" sz="1000" dirty="0" err="1"/>
              <a:t>Jeromel</a:t>
            </a:r>
            <a:r>
              <a:rPr lang="en-US" sz="1000" dirty="0"/>
              <a:t> &amp; </a:t>
            </a:r>
            <a:r>
              <a:rPr lang="en-US" sz="1000" dirty="0" err="1"/>
              <a:t>Žalik</a:t>
            </a:r>
            <a:r>
              <a:rPr lang="en-US" sz="1000" dirty="0"/>
              <a:t> (2020) — "An efficient lossy cartoon image compression method"</a:t>
            </a:r>
          </a:p>
          <a:p>
            <a:r>
              <a:rPr lang="en-US" sz="1000" dirty="0"/>
              <a:t>[2] Taylor (2011) — "Compression of Cartoon Images"</a:t>
            </a:r>
          </a:p>
          <a:p>
            <a:r>
              <a:rPr lang="en-US" sz="1000" dirty="0"/>
              <a:t>[3] Chang &amp; Su (2015) — "Color Gradient Vectorization for SVG Compression of Comic Image"</a:t>
            </a:r>
          </a:p>
          <a:p>
            <a:r>
              <a:rPr lang="en-US" sz="1000" dirty="0"/>
              <a:t>[4] Ko &amp; Cho (2020) — "SickZil-Machine: A Deep Learning Based Script Text Isolation System for Comics Translation"</a:t>
            </a:r>
          </a:p>
          <a:p>
            <a:r>
              <a:rPr lang="en-US" sz="1000" dirty="0"/>
              <a:t>[5] Haneda &amp; Bouman (2011) — "Text Segmentation for MRC Document Compression"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One-Color Region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  →  Region Detection  →  Region Reduction  →  Palette Generation  →  Chain Code Encoding  →  Output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Region Detection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scan from each unassigned pixel. Pixels within ctol color distance are grouped into the same region.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Region Reduction</a:t>
            </a:r>
            <a:endParaRPr lang="en-US" sz="1300" dirty="0"/>
          </a:p>
          <a:p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smaller than msz pixels are merged into neighboring regions. Contour regions (Y &lt; 100) merged to most similar neighbor; normal regions (Y &gt; 100) merged to largest similar neighbor.</a:t>
            </a:r>
            <a:endParaRPr lang="en-US" sz="1300" dirty="0"/>
          </a:p>
          <a:p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(Y represents the luminance value (Luma), derived from the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YCbCr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color space)</a:t>
            </a:r>
          </a:p>
          <a:p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Palette Generation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region colors (within ptol distance) are unified into a shared palette color using weighted averaging.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Chain Code Encoding (VCC)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region's contour is encoded using Vertex Chain Code — only 3 symbols (1=straight, 2=left, 3=right). More compressible than standard 4/8-direction chain codes.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865675" y="592024"/>
            <a:ext cx="40586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ctol = 50   |   msz = 3     |   ptol = 25</a:t>
            </a:r>
          </a:p>
          <a:p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</a:t>
            </a:r>
            <a:r>
              <a:rPr lang="en-US" sz="14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ctol</a:t>
            </a: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50   |   </a:t>
            </a:r>
            <a:r>
              <a:rPr lang="en-US" sz="14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msz</a:t>
            </a: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20   |   </a:t>
            </a:r>
            <a:r>
              <a:rPr lang="en-US" sz="14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ptol</a:t>
            </a: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25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2A91AB-E13F-FE57-4785-0521EDB67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99" y="951561"/>
            <a:ext cx="4671113" cy="22992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8AC3C0-3619-C8B3-33EA-E94BA8751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032" y="1726908"/>
            <a:ext cx="5442329" cy="26735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CABEDF0-5E5C-44FB-641A-AE63D2699B7C}"/>
              </a:ext>
            </a:extLst>
          </p:cNvPr>
          <p:cNvSpPr txBox="1"/>
          <p:nvPr/>
        </p:nvSpPr>
        <p:spPr>
          <a:xfrm>
            <a:off x="457200" y="3715803"/>
            <a:ext cx="1489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BA777B-F401-6081-9A51-62A8418DB42B}"/>
              </a:ext>
            </a:extLst>
          </p:cNvPr>
          <p:cNvSpPr txBox="1"/>
          <p:nvPr/>
        </p:nvSpPr>
        <p:spPr>
          <a:xfrm>
            <a:off x="6491418" y="1278374"/>
            <a:ext cx="1489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5D1A4CC-A6DC-4D32-C5B9-32D06B4C98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0764" y="2447503"/>
            <a:ext cx="5163560" cy="25365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9675" y="10287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 ctol = 50   |   msz = 3   |   ptol = 25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regions detected:       </a:t>
            </a:r>
            <a:r>
              <a:rPr lang="en-US" sz="1500" dirty="0"/>
              <a:t>24705</a:t>
            </a:r>
          </a:p>
          <a:p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after reduction:      </a:t>
            </a:r>
            <a:r>
              <a:rPr lang="en-US" sz="1500" dirty="0"/>
              <a:t>7448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colors:                79</a:t>
            </a:r>
            <a:endParaRPr lang="en-US" sz="1500" dirty="0"/>
          </a:p>
          <a:p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code symbols (total): </a:t>
            </a:r>
            <a:r>
              <a:rPr lang="en-US" sz="1500" dirty="0"/>
              <a:t>133245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msz on region count:</a:t>
            </a:r>
            <a:endParaRPr lang="en-US" sz="1500" dirty="0"/>
          </a:p>
          <a:p>
            <a:r>
              <a:rPr lang="en-US" sz="1500" dirty="0" err="1"/>
              <a:t>msz</a:t>
            </a:r>
            <a:r>
              <a:rPr lang="en-US" sz="1500" dirty="0"/>
              <a:t>=3: regions=7448 </a:t>
            </a:r>
          </a:p>
          <a:p>
            <a:r>
              <a:rPr lang="en-US" sz="1500" dirty="0" err="1"/>
              <a:t>msz</a:t>
            </a:r>
            <a:r>
              <a:rPr lang="en-US" sz="1500" dirty="0"/>
              <a:t>=5: regions=4768 </a:t>
            </a:r>
          </a:p>
          <a:p>
            <a:r>
              <a:rPr lang="en-US" sz="1500" dirty="0" err="1"/>
              <a:t>msz</a:t>
            </a:r>
            <a:r>
              <a:rPr lang="en-US" sz="1500" dirty="0"/>
              <a:t>=10: regions=2810 </a:t>
            </a:r>
          </a:p>
          <a:p>
            <a:r>
              <a:rPr lang="en-US" sz="1500" dirty="0" err="1"/>
              <a:t>msz</a:t>
            </a:r>
            <a:r>
              <a:rPr lang="en-US" sz="1500" dirty="0"/>
              <a:t>=20: regions=2402 </a:t>
            </a:r>
          </a:p>
          <a:p>
            <a:r>
              <a:rPr lang="en-US" sz="1500" dirty="0" err="1"/>
              <a:t>msz</a:t>
            </a:r>
            <a:r>
              <a:rPr lang="en-US" sz="1500" dirty="0"/>
              <a:t>=30: regions=2808 </a:t>
            </a:r>
          </a:p>
          <a:p>
            <a:r>
              <a:rPr lang="en-US" sz="1500" dirty="0" err="1"/>
              <a:t>msz</a:t>
            </a:r>
            <a:r>
              <a:rPr lang="en-US" sz="1500" dirty="0"/>
              <a:t>=50: regions=3220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2DD969-8938-66D7-3A1B-456C7C0B3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587" y="272525"/>
            <a:ext cx="4671113" cy="2299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C112FD-A64D-F0D3-838B-16E4F1FFD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8343" y="2630581"/>
            <a:ext cx="4680357" cy="2299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 parameters (ctol, msz, ptol) must be tuned manually for each image. Different comics require different settings.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Automatic parameter selection based on image features: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ctol  →  computed from color standard deviation of the image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High std (many color variations) → small ctol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Low std (uniform colors) → large ctol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msz   →  computed from edge density (Canny edge detection)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Dense edges (detailed image) → small msz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Sparse edges (large color blocks) → large msz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ptol  →  computed from number of unique colors in image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Many colors → small ptol    |    Few colors → large ptol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machine learning required — direct image analysis formulas only.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Improvements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lines (black outlines) may be merged and lost during Region Reduction.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</a:t>
            </a:r>
            <a:r>
              <a:rPr lang="en-US" altLang="zh-CN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lower msz — simple but reduces compression ratio.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Improvement — Separate contour line handling: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Detect contour lines first using Canny edge detection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Store contours separately, excluding them from Region Reduction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Compress contour layer independently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Merge layers during reconstruction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preserve contour detail without sacrificing compression ratio.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814</Words>
  <Application>Microsoft Office PowerPoint</Application>
  <PresentationFormat>On-screen Show (16:9)</PresentationFormat>
  <Paragraphs>105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Lossy Compression of Comic Strips</dc:title>
  <dc:subject>PptxGenJS Presentation</dc:subject>
  <dc:creator>PptxGenJS</dc:creator>
  <cp:lastModifiedBy>Xuran Zhou</cp:lastModifiedBy>
  <cp:revision>4</cp:revision>
  <dcterms:created xsi:type="dcterms:W3CDTF">2026-06-09T02:52:22Z</dcterms:created>
  <dcterms:modified xsi:type="dcterms:W3CDTF">2026-06-09T11:08:38Z</dcterms:modified>
</cp:coreProperties>
</file>